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bdd07fea8348ca" /><Relationship Type="http://schemas.openxmlformats.org/officeDocument/2006/relationships/extended-properties" Target="/docProps/app.xml" Id="R986df52c6d36431c" /><Relationship Type="http://schemas.openxmlformats.org/officeDocument/2006/relationships/officeDocument" Target="/ppt/presentation.xml" Id="R0f6fde5e2c6044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b432bbc37145c2"/>
  </p:sldMasterIdLst>
  <p:notesMasterIdLst>
    <p:notesMasterId xmlns:r="http://schemas.openxmlformats.org/officeDocument/2006/relationships" r:id="R16409df44eb8404d"/>
  </p:notesMasterIdLst>
  <p:sldIdLst>
    <p:sldId xmlns:r="http://schemas.openxmlformats.org/officeDocument/2006/relationships" id="256" r:id="R549b16bc7beb4b52"/>
    <p:sldId xmlns:r="http://schemas.openxmlformats.org/officeDocument/2006/relationships" id="257" r:id="R21ab5c2566ee4db7"/>
    <p:sldId xmlns:r="http://schemas.openxmlformats.org/officeDocument/2006/relationships" id="258" r:id="Rb4fb9ebabde64337"/>
    <p:sldId xmlns:r="http://schemas.openxmlformats.org/officeDocument/2006/relationships" id="259" r:id="Rb4fa21d09d494d9b"/>
    <p:sldId xmlns:r="http://schemas.openxmlformats.org/officeDocument/2006/relationships" id="260" r:id="Rce15726b8a8e474b"/>
    <p:sldId xmlns:r="http://schemas.openxmlformats.org/officeDocument/2006/relationships" id="261" r:id="R6cd0d2f7cdfe4481"/>
    <p:sldId xmlns:r="http://schemas.openxmlformats.org/officeDocument/2006/relationships" id="262" r:id="R77f2a03591234d3f"/>
    <p:sldId xmlns:r="http://schemas.openxmlformats.org/officeDocument/2006/relationships" id="263" r:id="Rc14c26ab90a24dbe"/>
    <p:sldId xmlns:r="http://schemas.openxmlformats.org/officeDocument/2006/relationships" id="264" r:id="R76042ed81bd74d15"/>
    <p:sldId xmlns:r="http://schemas.openxmlformats.org/officeDocument/2006/relationships" id="265" r:id="R5c424827343b4a2c"/>
    <p:sldId xmlns:r="http://schemas.openxmlformats.org/officeDocument/2006/relationships" id="266" r:id="R10ed18620e8a48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cb93a57e374081" /><Relationship Type="http://schemas.openxmlformats.org/officeDocument/2006/relationships/slideMaster" Target="/ppt/slideMasters/slideMaster1.xml" Id="Rabb432bbc37145c2" /><Relationship Type="http://schemas.openxmlformats.org/officeDocument/2006/relationships/notesMaster" Target="/ppt/notesMasters/notesMaster1.xml" Id="R16409df44eb8404d" /><Relationship Type="http://schemas.openxmlformats.org/officeDocument/2006/relationships/presProps" Target="/ppt/presProps.xml" Id="R6c6fdf2de6ff42dd" /><Relationship Type="http://schemas.openxmlformats.org/officeDocument/2006/relationships/viewProps" Target="/ppt/viewProps.xml" Id="R6c20c09ef1174e02" /><Relationship Type="http://schemas.openxmlformats.org/officeDocument/2006/relationships/tableStyles" Target="/ppt/tableStyles.xml" Id="R022b5653ef044172" /><Relationship Type="http://schemas.openxmlformats.org/officeDocument/2006/relationships/slide" Target="/ppt/slides/slide1.xml" Id="R549b16bc7beb4b52" /><Relationship Type="http://schemas.openxmlformats.org/officeDocument/2006/relationships/slide" Target="/ppt/slides/slide2.xml" Id="R21ab5c2566ee4db7" /><Relationship Type="http://schemas.openxmlformats.org/officeDocument/2006/relationships/slide" Target="/ppt/slides/slide3.xml" Id="Rb4fb9ebabde64337" /><Relationship Type="http://schemas.openxmlformats.org/officeDocument/2006/relationships/slide" Target="/ppt/slides/slide4.xml" Id="Rb4fa21d09d494d9b" /><Relationship Type="http://schemas.openxmlformats.org/officeDocument/2006/relationships/slide" Target="/ppt/slides/slide5.xml" Id="Rce15726b8a8e474b" /><Relationship Type="http://schemas.openxmlformats.org/officeDocument/2006/relationships/slide" Target="/ppt/slides/slide6.xml" Id="R6cd0d2f7cdfe4481" /><Relationship Type="http://schemas.openxmlformats.org/officeDocument/2006/relationships/slide" Target="/ppt/slides/slide7.xml" Id="R77f2a03591234d3f" /><Relationship Type="http://schemas.openxmlformats.org/officeDocument/2006/relationships/slide" Target="/ppt/slides/slide8.xml" Id="Rc14c26ab90a24dbe" /><Relationship Type="http://schemas.openxmlformats.org/officeDocument/2006/relationships/slide" Target="/ppt/slides/slide9.xml" Id="R76042ed81bd74d15" /><Relationship Type="http://schemas.openxmlformats.org/officeDocument/2006/relationships/slide" Target="/ppt/slides/slide10.xml" Id="R5c424827343b4a2c" /><Relationship Type="http://schemas.openxmlformats.org/officeDocument/2006/relationships/slide" Target="/ppt/slides/slide11.xml" Id="R10ed18620e8a48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e254a78e9d40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8d1e57b50844d7" /><Relationship Type="http://schemas.openxmlformats.org/officeDocument/2006/relationships/notesMaster" Target="/ppt/notesMasters/notesMaster1.xml" Id="R0d2f4fe743894b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f8dfd9808f4350" /><Relationship Type="http://schemas.openxmlformats.org/officeDocument/2006/relationships/notesMaster" Target="/ppt/notesMasters/notesMaster1.xml" Id="Rf5a84cc62e374c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af2dd29a43460a" /><Relationship Type="http://schemas.openxmlformats.org/officeDocument/2006/relationships/notesMaster" Target="/ppt/notesMasters/notesMaster1.xml" Id="Re9a5a3277b0642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0aa7769c224114" /><Relationship Type="http://schemas.openxmlformats.org/officeDocument/2006/relationships/notesMaster" Target="/ppt/notesMasters/notesMaster1.xml" Id="R9de7a3659e15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afacb4c6b14cf2" /><Relationship Type="http://schemas.openxmlformats.org/officeDocument/2006/relationships/notesMaster" Target="/ppt/notesMasters/notesMaster1.xml" Id="R86cd6fda16d54f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d650ede97408e" /><Relationship Type="http://schemas.openxmlformats.org/officeDocument/2006/relationships/notesMaster" Target="/ppt/notesMasters/notesMaster1.xml" Id="R2dd9a23ddb8b4e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ec385491c7484f" /><Relationship Type="http://schemas.openxmlformats.org/officeDocument/2006/relationships/notesMaster" Target="/ppt/notesMasters/notesMaster1.xml" Id="R352c68d37eff41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291472fcd842b1" /><Relationship Type="http://schemas.openxmlformats.org/officeDocument/2006/relationships/notesMaster" Target="/ppt/notesMasters/notesMaster1.xml" Id="R3f20f20f96c147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7bdfdb04bc4194" /><Relationship Type="http://schemas.openxmlformats.org/officeDocument/2006/relationships/notesMaster" Target="/ppt/notesMasters/notesMaster1.xml" Id="R4fe4f2f5556e4f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f18d7b42e649ab" /><Relationship Type="http://schemas.openxmlformats.org/officeDocument/2006/relationships/notesMaster" Target="/ppt/notesMasters/notesMaster1.xml" Id="R3dc20626661646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d6ae4f72fc4112" /><Relationship Type="http://schemas.openxmlformats.org/officeDocument/2006/relationships/notesMaster" Target="/ppt/notesMasters/notesMaster1.xml" Id="R1882574cdf3d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0:00–0:20. Открываем с тезиса: это не отдельный классификатор и не отдельная рука, а замкнутый контур от измерения до физической маршрутизации.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doc-1783095831.pdf, стр. 1 и 14–16: цель ПАК и регламент защиты.</a:t>
            </a:r>
          </a:p>
          <a:p xmlns:a="http://schemas.openxmlformats.org/drawingml/2006/main">
            <a:r>
              <a:t>- otchet_pak_track3.docx, разделы 1.1–1.2.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0:20–0:45. Коротко представить две роли: исполнительная часть и прошивка; конвейер, зрение и алгоритмы. Подчеркнуть совместное проектирование интерфейса SHOOT/SEQ/DONE.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otchet_pak_track3.docx, разделы 1.2 и 2.4.</a:t>
            </a:r>
          </a:p>
          <a:p xmlns:a="http://schemas.openxmlformats.org/drawingml/2006/main">
            <a:r>
              <a:t>- runtime (3).py; link_protocol (1).py.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0:45–1:20. Объяснить три взаимоисключающих результата. Главное: порядок проверки — сначала габариты, затем форма; одновременно крупный и круглый товар относится в C.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doc-1783095831.pdf, стр. 5–8: правила классификации и приоритет.</a:t>
            </a:r>
          </a:p>
          <a:p xmlns:a="http://schemas.openxmlformats.org/drawingml/2006/main">
            <a:r>
              <a:t>- stl_classify.py: classify().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1:20–2:05. Показать, как правило постановки превращено в код. Уточнить: рабочий порог 0,87 нужен только для визуальной оболочки, потому что она сглаживает рёбра; для истинной поверхности остаётся 0,80.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otchet_pak_track3.docx, разделы 2.2.3–2.2.7.</a:t>
            </a:r>
          </a:p>
          <a:p xmlns:a="http://schemas.openxmlformats.org/drawingml/2006/main">
            <a:r>
              <a:t>- cloud_classify.py: K_HULL=0.87, K_SURFACE=0.80.</a:t>
            </a:r>
          </a:p>
          <a:p xmlns:a="http://schemas.openxmlformats.org/drawingml/2006/main">
            <a:r>
              <a:t>- stl_classify.py: приоритет габаритов, K и пограничные случаи.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2:05–2:55. Провести взглядом путь A→B и путь C/D через буфер. Подчеркнуть, что рука не тормозит штатный поток B, а буфер на пять мест поглощает кратковременную пачку C/D.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doc-1783095831.pdf, стр. 3–5: точки A/B/C/D и скорость ленты.</a:t>
            </a:r>
          </a:p>
          <a:p xmlns:a="http://schemas.openxmlformats.org/drawingml/2006/main">
            <a:r>
              <a:t>- otchet_pak_track3.docx, разделы 1.2, 2.3.1 и 2.11.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2:55–3:45. Объяснить три точки траектории: pick, lift, drop; проверку обеих ветвей локтя; защиту достижимости и флаг arm_busy. Значения звеньев в рантайме калибруются под фактическую руку.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otchet_pak_track3.docx, разделы 2.1 и 2.4.</a:t>
            </a:r>
          </a:p>
          <a:p xmlns:a="http://schemas.openxmlformats.org/drawingml/2006/main">
            <a:r>
              <a:t>- arm_kinematics (1).py; runtime (3).py.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3:45–4:30. Не перечислять все числа механически: связать каждое с решением. 524 г объясняет промышленный привод; 1,8 с — зачем поток B идёт мимо руки; 0,84 — почему выбранная компоновка не у сингулярности; ×10 — запас синхронизации.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otchet_pak_track3.docx, разделы 2.1.5, 2.1.7, 2.3, 2.7, 2.11 и 2.15.</a:t>
            </a:r>
          </a:p>
          <a:p xmlns:a="http://schemas.openxmlformats.org/drawingml/2006/main">
            <a:r>
              <a:t>- doc-1783095831.pdf, стр. 9–11: матрица УГТ.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4:30–5:00. Назвать только причинные связи: Pi разделяет захват и расчёт; Arduino обеспечивает детерминированное движение; три камеры дают геометрию без зависимости от цвета; виртуальный сканер позволяет тестировать без стенда.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frames_to_cloud.py; virtual_scan.py; pipeline.py; runtime (3).py.</a:t>
            </a:r>
          </a:p>
          <a:p xmlns:a="http://schemas.openxmlformats.org/drawingml/2006/main">
            <a:r>
              <a:t>- otchet_pak_track3.docx, разделы 2.2 и 2.4.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5:00–5:30. Честно обозначить три разрыва до УГТ 4 и сразу показать, что каждый закрывается конкретным испытанием, а не сменой архитектуры.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otchet_pak_track3.docx, разделы 2.12, 2.15 и 3.2.</a:t>
            </a:r>
          </a:p>
          <a:p xmlns:a="http://schemas.openxmlformats.org/drawingml/2006/main">
            <a:r>
              <a:t>- doc-1783095831.pdf, стр. 9–12: уровни готовности.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5:30–6:30. На демо показать: три базовые категории, катящийся объект и один живой цикл SHOOT→B/C/D→SEQ/DONE. Если ролик не встроен, открыть его отдельным файлом до начала защиты и вернуться на этот слайд после воспроизведения.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doc-1783095831.pdf, стр. 14–16: видеодемонстрация обязательна.</a:t>
            </a:r>
          </a:p>
          <a:p xmlns:a="http://schemas.openxmlformats.org/drawingml/2006/main">
            <a:r>
              <a:t>- runtime (3).py: selftest() и протокол перекладки.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Тайминг: 6:30–6:50. Закрыть тем же тезисом, с которого начали: ценность решения в связности. Пригласить жюри проверить расчёты, код и сценарии запуска по README.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otchet_pak_track3.docx, разделы 3.1–3.3.</a:t>
            </a:r>
          </a:p>
          <a:p xmlns:a="http://schemas.openxmlformats.org/drawingml/2006/main">
            <a:r>
              <a:t>- README.md и исходные файлы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1eeddea8e40f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8cda1991f64b30" /><Relationship Type="http://schemas.openxmlformats.org/officeDocument/2006/relationships/slideLayout" Target="/ppt/slideLayouts/slideLayout1.xml" Id="Rfd989657b1204df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89657b1204df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ced61a53c42d1" /><Relationship Type="http://schemas.openxmlformats.org/officeDocument/2006/relationships/notesSlide" Target="/ppt/notesSlides/notesSlide1.xml" Id="R67b9e48ca09241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e3454a0db4d3e" /><Relationship Type="http://schemas.openxmlformats.org/officeDocument/2006/relationships/notesSlide" Target="/ppt/notesSlides/notesSlide2.xml" Id="Rbe554ffac8ba43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1756488854999" /><Relationship Type="http://schemas.openxmlformats.org/officeDocument/2006/relationships/notesSlide" Target="/ppt/notesSlides/notesSlide3.xml" Id="R626c8ee0889e4c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8e41cbe504b69" /><Relationship Type="http://schemas.openxmlformats.org/officeDocument/2006/relationships/notesSlide" Target="/ppt/notesSlides/notesSlide4.xml" Id="Ra5a818b7e89440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ff9babf274752" /><Relationship Type="http://schemas.openxmlformats.org/officeDocument/2006/relationships/image" Target="/ppt/media/image.png" Id="Rcce29072ead847e1" /><Relationship Type="http://schemas.openxmlformats.org/officeDocument/2006/relationships/notesSlide" Target="/ppt/notesSlides/notesSlide5.xml" Id="Rd5f604258e754a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a4db23c1f494d" /><Relationship Type="http://schemas.openxmlformats.org/officeDocument/2006/relationships/image" Target="/ppt/media/image2.png" Id="R5dd796ae8f0e4010" /><Relationship Type="http://schemas.openxmlformats.org/officeDocument/2006/relationships/notesSlide" Target="/ppt/notesSlides/notesSlide6.xml" Id="Ra2b3e41ad5dc46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5061689d74cfb" /><Relationship Type="http://schemas.openxmlformats.org/officeDocument/2006/relationships/image" Target="/ppt/media/image3.png" Id="Re8eaa9f13f7447ca" /><Relationship Type="http://schemas.openxmlformats.org/officeDocument/2006/relationships/notesSlide" Target="/ppt/notesSlides/notesSlide7.xml" Id="R7a8103568f6b43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c56b5f9f648c1" /><Relationship Type="http://schemas.openxmlformats.org/officeDocument/2006/relationships/notesSlide" Target="/ppt/notesSlides/notesSlide8.xml" Id="Ra2c09fd368134f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c2923bd7a4f9a" /><Relationship Type="http://schemas.openxmlformats.org/officeDocument/2006/relationships/image" Target="/ppt/media/image4.png" Id="R818358af644e4173" /><Relationship Type="http://schemas.openxmlformats.org/officeDocument/2006/relationships/notesSlide" Target="/ppt/notesSlides/notesSlide9.xml" Id="Rb9b124c261c54f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620b9466a4a09" /><Relationship Type="http://schemas.openxmlformats.org/officeDocument/2006/relationships/notesSlide" Target="/ppt/notesSlides/notesSlide10.xml" Id="R88973811aa9244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c3d47bea94a0b" /><Relationship Type="http://schemas.openxmlformats.org/officeDocument/2006/relationships/notesSlide" Target="/ppt/notesSlides/notesSlide11.xml" Id="R1ef89f52b1eb4b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5EA8A8-E327-4E6E-BE7D-EE5D260C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[ ТРЕК 3 // OZON ХАКАТОН ]  ЗАЩИТА · 7 МИНУТ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9DCFCA-0B17-473C-9958-22325F3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115568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50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ИНТЕЛЛЕКТУАЛЬНАЯ РОБОТИЗИРОВАННАЯ</a:t>
            </a:r>
          </a:p>
          <a:p xmlns:a="http://schemas.openxmlformats.org/drawingml/2006/main">
            <a:pPr marL="0" indent="0">
              <a:lnSpc>
                <a:spcPts val="50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СИСТЕМА СОРТИРОВКИ ТОВАРОВ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721403C-225A-403C-98A1-37D0663B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9A9A9A"/>
                </a:solidFill>
                <a:latin typeface="Arial"/>
                <a:ea typeface="Arial"/>
                <a:cs typeface="Arial"/>
              </a:rPr>
              <a:t>ЗАМКНУТЫЙ КОНТУР: УВИДЕТЬ → РЕШИТЬ → ПЕРЕЛОЖИТЬ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7614D37-2D5C-4CA2-B433-A8F738F3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A737DE-2421-4F9F-A574-D7E90552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0"/>
            <a:ext cx="8686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КЛАССИФИКАЦИЯ ПО ГАБАРИТАМ И ФОРМЕ + БУФЕР НА 5 МЕСТ — БЕЗ ОСТАНОВКИ ЛЕНТЫ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C39CAE-5A35-4E22-A955-954F65EB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215" y="6035040"/>
            <a:ext cx="33375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2 УЧАСТНИКА · ХАКАТОН OZON · ТРЕК 3</a:t>
            </a:r>
          </a:p>
        </p:txBody>
      </p:sp>
    </p:spTree>
    <p:extLst>
      <p:ext uri="{BB962C8B-B14F-4D97-AF65-F5344CB8AC3E}">
        <p14:creationId xmlns:p14="http://schemas.microsoft.com/office/powerpoint/2010/main" val="506918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78A124-5543-42C8-8956-D3CA0C9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01 // КОМАНДА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64439E-0FA8-4A1C-B782-B5592B4C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9601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ДВЕ РУКИ НА ОДНУ ЗАДАЧУ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30822A7-A25C-4AFA-A12A-62CCD888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69503FA-D532-4578-BA97-9B938039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2257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МАНИПУЛЯТОР И ПРОШИВКА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6C6840-1C4F-4AC5-ACCB-C185D789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61488"/>
            <a:ext cx="4892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Механика, кинематика, конечный автомат Arduino, протокол SHOOT/SEQ/DONE.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0B65B99-F8A0-482A-A6D7-643BD8D4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7744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2DD33B-2A9D-42D6-98EB-A513BEA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2257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КОНВЕЙЕР И АЛГОРИТМЫ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AAF1A0-979C-4EEC-9221-765B95EC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61488"/>
            <a:ext cx="4892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Буферная линия, зрение и классификация, рантайм Raspberry Pi.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999979F-FC93-48AD-B44A-27F9965B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9A5037-37D3-4729-B7BF-3A89C330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5993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ОБЩИЙ КОНТУР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B351208-36DA-4335-8F66-90E49259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98848"/>
            <a:ext cx="4892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2 участника, один сквозной контур: механика, зрение и электроника проектировались вместе.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F09DDC-6B39-494F-ABBE-1548482F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E90AE3A-F77A-43EA-8483-07BC80AE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РЕГЛАМЕНТ ДОПУСКАЕТ МАКЕТ НЕ 1:1 — МЫ СДЕЛАЛИ СТАВКУ НА ЧЕСТНЫЙ РАСЧЁТ ВМЕСТО МАСШТАБА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B80423D-ADF8-4A01-B88B-37B3B8FF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933709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A4B92C0-3489-47F3-9074-637AB69B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02 // ЗАДАЧА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C02E3A-18ED-4807-8A59-1AD77D56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9601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ТОВАР —</a:t>
            </a:r>
          </a:p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ОДНО РЕШЕНИЕ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E74325F-5466-4D5D-AD78-8DAD413E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88920"/>
            <a:ext cx="3520440" cy="283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9050">
            <a:solidFill>
              <a:srgbClr val="4FA35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66F04AE-2AA4-4C81-8735-1AE9B995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4FA35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FC5A7B6-6C54-47D6-8339-772A4C1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3063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ПОДХОДИТ ДЛЯ СОРТИРОВКИ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7E8FA6-AABD-45F6-A003-4F3C474B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3063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габариты в диапазоне,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круга в сечении нет.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608F1E8-488C-4105-933B-C97D840D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8920"/>
            <a:ext cx="3520440" cy="283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9050">
            <a:solidFill>
              <a:srgbClr val="E0A23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D87E06E-717C-4060-96B4-C534F0E3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E0A23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E4D533-AA6D-4CBD-9E8B-EAB202DA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0480"/>
            <a:ext cx="3063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ПОДХОДИТ ПО ГАБАРИТАМ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7CABF30-FC98-485C-86AE-4266177E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54880"/>
            <a:ext cx="3063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вне допустимого диапазона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размеров.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1287FD7-675A-412B-A003-B9B6B493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88920"/>
            <a:ext cx="3520440" cy="283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19050">
            <a:solidFill>
              <a:srgbClr val="6C8CF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0492C27-ED1F-4CCE-8D69-0920D4BD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71800"/>
            <a:ext cx="1097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33AD2F-A54A-4896-BDE3-7EF7E942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40480"/>
            <a:ext cx="3063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НУЖНА ДОУПАКОВКА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ED9733-FD3F-4CA7-B106-1268E94D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54880"/>
            <a:ext cx="3063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габариты в норме,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круг в сечении подтверждён.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5B71284-6D2E-4692-A78C-1BDDEB5D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28410E4-A692-4C0A-BF1F-FD20CE39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ПРИОРИТЕТ: СНАЧАЛА ГАБАРИТ, ПОТОМ ФОРМА — ОДНОВРЕМЕННО НЕГАБАРИТНЫЙ И КРУГЛЫЙ ТОВАР ИДЁТ В C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8958FF7-2B58-4033-B733-E4BA17C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905061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6C3158-C7AF-4D51-A9E0-B983C465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03 // ЛОГИКА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A322FB6-3509-427C-AE77-1BEA7F40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9601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ПРАВИЛО ПОСТАНОВКИ — В КОДЕ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2040FA-1504-4F2E-9F5A-B198DAE2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6888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FE4C8C-5CE1-40B8-9641-0E59B87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1401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≤10 ММ ИЛИ &gt;450×320×320 ММ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1B298C-EFC7-4D32-9972-CF8E8091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52928"/>
            <a:ext cx="4892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→ негабарит (C).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Проверяется первым — жёсткое ограничение сортировщика.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CB1E29-54E1-4EC3-B91D-583AF038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46888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974EAC-9D5C-4D5E-8B00-2A0CBDF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1401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 = rВПИС / RОПИС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29BB0B-B868-4198-8A91-DF61F3F5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852928"/>
            <a:ext cx="4892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→ доупаковка (D): K &gt; 0,80 по поверхности или &gt; 0,87 по визуальной оболочке.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Сечения — только перпендикулярно собственным осям.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13A9704-FD7D-4990-AE06-53F21535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092E2BE-21DF-4CCB-9095-8B274EA3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8853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ИНАЧЕ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1BE4970-AC7C-4CC0-9889-59770491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727448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→ подходит для сортировки (B). Штатный режим, манипулятор не задействован.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3DA07D2-918C-470D-9CD4-F2616468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4340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1D7F239-D8E4-4630-A192-97AF9C2D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8853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СЕРЫЕ ЗОНЫ И УКАТЫВАНИЕ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2C1FD34-5CA4-43C1-88D4-26EBBA8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727448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Пограничные габариты, K у порога, мало точек или укатывание — безопасный отвод на ручной разбор.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8F4EC56-9961-4435-B4B6-0D2B0DF4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C40FB77-1A32-4E84-A07D-BF206632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СНАЧАЛА ГАБАРИТЫ, ЗАТЕМ ФОРМА; НЕУВЕРЕННОСТЬ НЕ ПОПАДАЕТ В ОСНОВНОЙ СОРТИРОВЩИК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259B71-915B-4563-A2B3-E49F2C9A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18058965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DA6B76-EC24-4D2F-8F7A-040D942F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04 // МАРШРУТИЗАЦИЯ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EF7558-92A4-4350-9D9C-254A2845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11155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→ B БЕЗ РУКИ. C И D — ЧЕРЕЗ БУФЕР</a:t>
            </a:r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29072ead847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0640" y="2057400"/>
            <a:ext cx="4114800" cy="365760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B1C48D3-FD5B-4427-9B6A-878F203F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4C68B6-4300-4D7C-B123-5B8B812F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8960"/>
            <a:ext cx="19202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подающий конвейер,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товар «подходит» — едет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напрямую в сортировщик, рука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не задействована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333DA05-0A39-4DDB-8067-41CFDE7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6344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0A23B"/>
                </a:solidFill>
                <a:latin typeface="Arial"/>
                <a:ea typeface="Arial"/>
                <a:cs typeface="Arial"/>
              </a:rPr>
              <a:t>БУФЕР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7B887D5-B0E4-42F7-967B-42E0563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0"/>
            <a:ext cx="1920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5 физических мест — запас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по времени на пачку C/D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товаров подряд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50878E1-D920-4E6C-972A-24EFB9BF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74320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E0A23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FF2F42A-6C14-44EB-8703-D489639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74320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E7C1DCB-5359-4904-8BB0-5FBE9202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108960"/>
            <a:ext cx="23774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тары, куда манипулятор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раскладывает товар после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буфера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F75240A-3006-45AF-AB24-85D5A6F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39F41C7-1FF2-494F-BBDE-89F820D7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A→B НАПРЯМУЮ · БУФЕР НА 5 МЕСТ · C/D — МАНИПУЛЯТОР ПО ФАКТИЧЕСКИМ STL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E4730C4-960E-431F-8164-505160BA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453761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4E28E34-B32A-49EC-BFE2-271CDEE7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05 // ИСПОЛНИТЕЛЬНАЯ ЧАСТЬ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5C9082-1D73-41BD-A776-F0122590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9601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УСТРОЕНА ПЕРЕКЛАДКА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90F1BA-DC18-4426-8646-213AFF13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E23CEE-F280-450D-8D01-A49A5AFC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31136"/>
            <a:ext cx="6537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ЗАХВАТ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32BC4E2-B7AD-4467-9EE1-E598098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70048"/>
            <a:ext cx="6537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точка захвата из зрения → обратная кинематика → три опорные точки pk / lift / drop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A99A528-BF21-4CCC-A582-1571FF62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99232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02BBA35-24C7-4935-9FE8-291D5FF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6537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ДВЕ ВЕТВИ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1FBAFB-6048-4C51-A83F-0DE46DD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83280"/>
            <a:ext cx="6537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локоть вверх / вниз — выбирается та, что проходит по пределам сервоприводов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72D9A7-47BF-4AFD-8E36-FD73FB05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9772C92-8CBF-4B6E-B9E1-90D4331D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57600"/>
            <a:ext cx="6537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F25B8EB-1BDD-43B7-9CFD-7A8C5BD7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96512"/>
            <a:ext cx="6537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достижимость — кольцо [R_min; R_max], иначе товар уходит на ручной разбор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0A521AF-EBBD-4CF9-BD0E-1DCE21EF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25696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16B2E42-2589-4B68-AFA7-A00B456B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70832"/>
            <a:ext cx="6537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ПЕРЕКЛАДКА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042A52-327B-48AE-81DE-375D5A7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09744"/>
            <a:ext cx="6537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неблокирующий конечный автомат Arduino: MOVE→WAIT_GRIP→LIFT→DROP→HOME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82EEA22-5AD8-45DD-AF40-0439BDFB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38928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B550D6-F252-4EC8-94F0-62D12A2D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84064"/>
            <a:ext cx="6537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FBBD862-6D31-4DE2-849C-86FD2EB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22976"/>
            <a:ext cx="6537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«рука занята»: игнор нового SEQ + таймаут 12с на случай потери DONE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796ae8f0e4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5280" y="2331720"/>
            <a:ext cx="3749040" cy="1874520"/>
          </a:xfrm>
          <a:prstGeom xmlns:a="http://schemas.openxmlformats.org/drawingml/2006/main" prst="rect">
            <a:avLst/>
          </a:prstGeom>
        </p:spPr>
      </p:pic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9BA4715-8AB4-4357-863F-A125012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25196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A9A9A"/>
                </a:solidFill>
                <a:latin typeface="Arial"/>
                <a:ea typeface="Arial"/>
                <a:cs typeface="Arial"/>
              </a:rPr>
              <a:t>СБОРКА ПО ФАКТИЧЕСКИМ STL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FCABA97-09CF-4526-9F73-6C27560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05BE12A-3CFE-4CFB-A684-F161E40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L1≈210 ММ, L2≈146 ММ — ГЕОМЕТРИЯ ПРОТОТИПА; РАНТАЙМ КАЛИБРУЕТСЯ БЕЗ ПЕРЕПИСЫВАНИЯ КОДА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F4D35D9-3BDF-4A11-9EAD-AA4132E8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1341371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4C8BA5-7CBA-4C53-A4DF-F7777AAC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06 // ПОДТВЕРЖДЕНИЕ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848191-3ADF-4240-BF00-34F5344D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9601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ЧЕСТНЫЕ ЦИФРЫ, А НЕ ЛОЗУНГИ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B83631-0E0F-4382-9E54-3C82A89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12/20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6E63A7D-CD6D-4122-BF0A-CD45BBB5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546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САМООЦЕНКА УГТ: CV3 × ИСПОЛ.3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ДЕТАЛИЗИРОВАННЫЙ ПРОЕКТ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7610473-133A-478C-A92F-546CBD0F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37744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524 Г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916EBA7-2603-48C8-ADD7-90A762DA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546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ПРЕДЕЛ МАССЫ ТОВАРА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НА ВЫТЯНУТОЙ РУКЕ (РАСЧЁТ)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8D353C7-B804-4812-B4E6-D4E3061D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37744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1.8 C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14FEFA-2DBC-4BCD-8404-F1B5C24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1546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МОДЕЛЬНЫЙ CYCLE TIME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НА ФАЗАХ КОНЕЧНОГО АВТОМАТА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9F200C5-5D3D-41B1-A111-6E0DFD69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±26 ММ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5BD3454-049D-4FEF-80F1-1A4D8BD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9204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РАЗБРОС ДИСТАНЦИИ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ПО 5 МЕСТАМ БУФЕРА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5F0B433-F349-4CBA-9543-9620D99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11480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0.84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0257AB5-2E6A-4718-A375-4694AEA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9204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МИН. МАНИПУЛИРУЕМОСТЬ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W/W_MAX ПО ВСЕМ ТОЧКАМ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AC8425-9678-4CE4-87C1-83F23B25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114800"/>
            <a:ext cx="24688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883E951-C44A-44AE-9A98-ADC1BB80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489204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ЗАПАС ПО ВРЕМЕНИ СИНХРОНИЗАЦИИ</a:t>
            </a:r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(ЭНКОДЕР VS РАСЧЁТ)</a:t>
            </a:r>
          </a:p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aa9f13f74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5360" y="2286000"/>
            <a:ext cx="3108960" cy="2679192"/>
          </a:xfrm>
          <a:prstGeom xmlns:a="http://schemas.openxmlformats.org/drawingml/2006/main" prst="rect">
            <a:avLst/>
          </a:prstGeom>
        </p:spPr>
      </p:pic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37CD863-2216-4CD0-A042-EE54C27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4385076-F20C-4388-A69C-634794EF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РАСЧЁТЫ + SELFTEST НА 4 ТЕЛА; СЛЕДУЮЩИЙ ШАГ — ОФИЦИАЛЬНЫЙ НАБОР И ВИДЕО С ПРОТОТИПА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87857B11-01D5-4576-8211-3D57AC11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931059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25850A-BAFE-4D17-BC22-CBF7D0C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 07 // ИНСТРУМЕНТЫ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EBF625-6677-4516-86E6-0CAAB4A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9601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ПОЧЕМУ ИМЕННО ЭТО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5A43EAB-9433-4EE1-A4C8-147C6280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6888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444EA77-DA9D-4569-A3DF-4C4424F1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1401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RASPBERRY PI, 3 ПОТОКА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3B97E6-3BD3-49F8-8ED4-2E8D47D5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52928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grabber/reader/worker — тяжёлое зрение не блокирует приём SHOOT.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E497587-B27B-4B6D-9E14-8ADF7FC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46888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8D86F2-8500-479B-BC35-AC6639E3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41401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ARDUINO, КОНЕЧНЫЙ АВТОМАТ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CE4B25-6D0F-4979-B900-A2E386DE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852928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детерминированное время реакции, никаких delay() в основном цикле.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35FC37-A1DC-485A-A0DA-C085BA2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7764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E3F059-A009-4894-9A11-1B0F534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2277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ВИЗУАЛЬНАЯ ОБОЛОЧКА (3 КАМЕРЫ)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82ED7F5-B28E-415C-A95F-C63E010A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61688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нечувствительна к цвету/фактуре упаковки — не нужна лазерная триангуляция.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4F20BA8-FBFD-4AD4-923C-BC020266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47EC133-DDD8-415E-AA79-8C809EC3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922776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TRIMESH + ВИРТУАЛЬНОЕ СКАНИРОВАНИЕ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ED7E026-435F-4915-8709-2338093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361688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проверка классификатора на цифровых телах без реальной ленты и камер.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531A53C-D612-42F1-8EA9-22A3C87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8F3286-BC5E-45D9-9DD5-D433AA97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КАЖДЫЙ ИНСТРУМЕНТ ВЫБРАН ПОД КОНКРЕТНОЕ ОГРАНИЧЕНИЕ ЗАДАЧИ, А НЕ ПО УМОЛЧАНИЮ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265B23E-98EF-4804-9A52-B0B7C854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8 / 11 </a:t>
            </a:r>
          </a:p>
        </p:txBody>
      </p:sp>
    </p:spTree>
    <p:extLst>
      <p:ext uri="{BB962C8B-B14F-4D97-AF65-F5344CB8AC3E}">
        <p14:creationId xmlns:p14="http://schemas.microsoft.com/office/powerpoint/2010/main" val="1234089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57920D-0A55-4260-A143-F6E8CF80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08 // ГРАНИЦЫ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CDE8B4-7995-42D4-B69C-8FB8F3DB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9601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ОГРАНИЧЕНИЯ — ЭТО ПЛАН РАЗВИТИЯ</a:t>
            </a:r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358af644e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57400"/>
            <a:ext cx="3977640" cy="397764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28FF046-C9D0-4CE7-882E-E965ABE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E1CCFAF-6459-4E2B-BE50-C7DB48A7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31136"/>
            <a:ext cx="6080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МОМЕНТ ПРИВОДА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821C4D0-A5F4-4238-930E-78D69AFD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670048"/>
            <a:ext cx="6080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хобби-сервопривод держит ≈524г на полном вылете — для тяжёлых товаров нужен промышленный привод.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0BF69CA-09FB-4A82-A188-AD05DA2A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2900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BD6719-4F35-4041-B10C-F7104497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374136"/>
            <a:ext cx="6080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4ABADD-E3E0-473A-B1D3-1AF5B274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13048"/>
            <a:ext cx="6080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E-STOP и ограждение спроектированы, физически ещё не собраны.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F683A4F-D55B-4565-AAB7-35F5B92F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7200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CA344AF-0A03-4122-9866-D0B9E6FC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517136"/>
            <a:ext cx="6080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ВАЛИДАЦИЯ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1C97530-2BBD-4481-A887-D6477957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956048"/>
            <a:ext cx="6080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9A9A9A"/>
                </a:solidFill>
                <a:latin typeface="Arial"/>
                <a:ea typeface="Arial"/>
                <a:cs typeface="Arial"/>
              </a:rPr>
              <a:t>официальный тестовый набор, калибровка камер и видео с измеренным cycle time — следующий шаг.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5E00E98-77D5-4677-850C-D1A7D0D1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57BD451-B23D-4912-BB4D-0824A23F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УГТ 4: ПРОМЫШЛЕННЫЙ ПРИВОД · E-STOP И ОГРАЖДЕНИЕ · ОФИЦИАЛЬНАЯ ВАЛИДАЦИЯ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E3AF6064-2683-4F08-BE7A-ABE0C568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1632883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730AE4-8F28-40F7-8B42-78C5BE9A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09 // ДЕМО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462A74-829C-49FC-A371-21B01804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7240"/>
            <a:ext cx="9601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200"/>
              </a:lnSpc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СКВОЗНОГО ЦИКЛА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B584EF9-86C3-4F2D-9403-30C77206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965960"/>
            <a:ext cx="8686800" cy="397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51"/>
          </a:solidFill>
          <a:ln xmlns:a="http://schemas.openxmlformats.org/drawingml/2006/main" w="25400">
            <a:solidFill>
              <a:srgbClr val="6C8CFF"/>
            </a:solidFill>
            <a:prstDash val="dash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22575E-4AC9-457E-9B42-488E20CE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246120"/>
            <a:ext cx="868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400">
                <a:solidFill>
                  <a:srgbClr val="6C8CFF"/>
                </a:solidFill>
                <a:latin typeface="Arial"/>
                <a:ea typeface="Arial"/>
                <a:cs typeface="Arial"/>
              </a:rPr>
              <a:t>SHOOT → B/C/D → DONE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F148FE-370E-47C3-A8C7-E3B44FFB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16052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 СЕКУНД: ОТ ТРИГГЕРА ДО ПЕРЕКЛАДКИ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5CB1F9-434A-4401-AB08-E9AD95AF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663440"/>
            <a:ext cx="8686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150">
                <a:solidFill>
                  <a:srgbClr val="9A9A9A"/>
                </a:solidFill>
                <a:latin typeface="Arial"/>
                <a:ea typeface="Arial"/>
                <a:cs typeface="Arial"/>
              </a:rPr>
              <a:t>Протокол: SHOOT → SEQ → DONE · selftest B/C/D + живая перекладка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B7D7B06-6A27-4A51-8875-FFB11ADD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1219169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C8F72F7-1DF2-4BAD-8E51-8F8CA9B6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172200"/>
            <a:ext cx="1118585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 ПОКАЗЫВАЕТ ГЛАВНОЕ: КЛАССИФИКАЦИЯ И МЕХАНИКА РАБОТАЮТ КАК ОДИН КОНТУР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3083F83-B3F7-4EEC-BB0E-942198AB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35508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A9A9A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6470628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A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9E183E-54A9-40F8-BBB3-AC71DCF2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7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10 // ИТОГ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60ED7D-2430-4506-8FC7-7E31326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1115568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400"/>
              </a:lnSpc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СИСТЕМА ВИДИТ, ПРИНИМАЕТ РЕШЕНИЕ</a:t>
            </a:r>
          </a:p>
          <a:p xmlns:a="http://schemas.openxmlformats.org/drawingml/2006/main">
            <a:pPr marL="0" indent="0">
              <a:lnSpc>
                <a:spcPts val="4400"/>
              </a:lnSpc>
              <a:buNone/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ПЕРЕКЛАДЫВАЕТ ТОВАР БЕЗ ОСТАНОВКИ ЛЕНТЫ.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FAB2885-2902-4814-8EAA-088A9FAB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A9A9A"/>
                </a:solidFill>
                <a:latin typeface="Arial"/>
                <a:ea typeface="Arial"/>
                <a:cs typeface="Arial"/>
              </a:rPr>
              <a:t>ПРОВЕРЯЕМАЯ МАТЕМАТИКА + ОТКРЫТЫЙ КОД + ЧЕСТНЫЕ ОГРАНИЧЕНИЯ = ИНЖЕНЕРНОЕ РЕШЕНИЕ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D6A18C-6562-432F-9DD9-B0542381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2064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C8CFF"/>
                </a:solidFill>
                <a:latin typeface="Arial"/>
                <a:ea typeface="Arial"/>
                <a:cs typeface="Arial"/>
              </a:rPr>
              <a:t>СПАСИБО ЗА ВНИМАНИЕ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783682F-78C3-4A30-BFC2-325E6682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5040"/>
            <a:ext cx="12191695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FF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B9AB2E-E5C6-4BB7-ACE7-58FF15D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0"/>
            <a:ext cx="11155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МАТЕРИАЛЫ: README · ОТЧЁТ · ПРЕЗЕНТАЦИЯ · ИСХОДНЫЙ КОД</a:t>
            </a:r>
          </a:p>
        </p:txBody>
      </p:sp>
    </p:spTree>
    <p:extLst>
      <p:ext uri="{BB962C8B-B14F-4D97-AF65-F5344CB8AC3E}">
        <p14:creationId xmlns:p14="http://schemas.microsoft.com/office/powerpoint/2010/main" val="10017669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2026-08-02T20:36:38.0950000Z</dcterms:created>
  <dcterms:modified xsi:type="dcterms:W3CDTF">2026-08-02T20:36:38.0950000Z</dcterms:modified>
</coreProperties>
</file>